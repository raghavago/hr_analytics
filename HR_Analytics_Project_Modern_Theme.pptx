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Aptos"/>
              </a:defRPr>
            </a:pPr>
            <a:r>
              <a:t>HR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7315200" cy="1417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ptos"/>
              </a:defRPr>
            </a:pPr>
            <a:r>
              <a:t>Workforce Dashboard</a:t>
            </a:r>
            <a:br/>
            <a:r>
              <a:t>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73152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A9B5CC"/>
                </a:solidFill>
                <a:latin typeface="Aptos"/>
              </a:defRPr>
            </a:pPr>
            <a:r>
              <a:t>Employee distribution • Hiring trends • Diversity • Workforce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325880"/>
            <a:ext cx="2331720" cy="233172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691640"/>
            <a:ext cx="1783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00" b="1">
                <a:solidFill>
                  <a:srgbClr val="2DD4BF"/>
                </a:solidFill>
                <a:latin typeface="Aptos"/>
              </a:defRPr>
            </a:pPr>
            <a:r>
              <a:t>18,285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395728"/>
            <a:ext cx="1783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active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9B5CC"/>
                </a:solidFill>
                <a:latin typeface="Aptos"/>
              </a:defRPr>
            </a:pPr>
            <a:r>
              <a:t>Based on HR.csv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5989320"/>
            <a:ext cx="3840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0">
                <a:solidFill>
                  <a:srgbClr val="A9B5CC"/>
                </a:solidFill>
                <a:latin typeface="Aptos"/>
              </a:defRPr>
            </a:pPr>
            <a:r>
              <a:t>Prepared for Tableau / Power BI style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Project Scope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A9B5CC"/>
                </a:solidFill>
                <a:latin typeface="Aptos"/>
              </a:defRPr>
            </a:pPr>
            <a:r>
              <a:t>HR Analytics • Data-driven workforce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786384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27631"/>
            <a:ext cx="502920" cy="502920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28216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0B132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27631"/>
            <a:ext cx="5120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Connect / prepare the HR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55063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Load and clean employee records for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78608"/>
            <a:ext cx="10927080" cy="786384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697479"/>
            <a:ext cx="502920" cy="502920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98063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0B132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97479"/>
            <a:ext cx="5120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Build three KPIs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24912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Employee count, work location split, and average 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48456"/>
            <a:ext cx="10927080" cy="786384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3767328"/>
            <a:ext cx="502920" cy="502920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867911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0B132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67328"/>
            <a:ext cx="5120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Visualize workforce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94759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Hiring trend by year and employee distributions.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18304"/>
            <a:ext cx="10927080" cy="786384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4837176"/>
            <a:ext cx="502920" cy="502920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937760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0B132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37176"/>
            <a:ext cx="5120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Derive insights &amp; 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64608"/>
            <a:ext cx="4663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Translate patterns into actions for the company.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02 •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Data Preparation &amp;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A9B5CC"/>
                </a:solidFill>
                <a:latin typeface="Aptos"/>
              </a:defRPr>
            </a:pPr>
            <a:r>
              <a:t>HR Analytics • Data-driven workforce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00400" cy="1024128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1005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Aptos"/>
              </a:defRPr>
            </a:pPr>
            <a:r>
              <a:t>22,214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00200"/>
            <a:ext cx="16459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Total records in HR.csv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3200400" cy="1024128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99232"/>
            <a:ext cx="1005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Aptos"/>
              </a:defRPr>
            </a:pPr>
            <a:r>
              <a:t>18,285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017520"/>
            <a:ext cx="16459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Active employees used for workforce KPIs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0"/>
            <a:ext cx="3200400" cy="1024128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16552"/>
            <a:ext cx="1005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434840"/>
            <a:ext cx="16459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Aptos"/>
              </a:defRPr>
            </a:pPr>
            <a:r>
              <a:t>Core KPI measures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417320"/>
            <a:ext cx="7269480" cy="443484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71907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Analysis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240280"/>
            <a:ext cx="182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240280"/>
            <a:ext cx="61264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0">
                <a:solidFill>
                  <a:srgbClr val="A9B5CC"/>
                </a:solidFill>
                <a:latin typeface="Aptos"/>
              </a:defRPr>
            </a:pPr>
            <a:r>
              <a:t>Active employee = record with blank termdate.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862072"/>
            <a:ext cx="182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862072"/>
            <a:ext cx="61264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0">
                <a:solidFill>
                  <a:srgbClr val="A9B5CC"/>
                </a:solidFill>
                <a:latin typeface="Aptos"/>
              </a:defRPr>
            </a:pPr>
            <a:r>
              <a:t>Work location split = Headquarters vs Remote among active employees.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483864"/>
            <a:ext cx="182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483864"/>
            <a:ext cx="61264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0">
                <a:solidFill>
                  <a:srgbClr val="A9B5CC"/>
                </a:solidFill>
                <a:latin typeface="Aptos"/>
              </a:defRPr>
            </a:pPr>
            <a:r>
              <a:t>Average age = mean Age of active employees.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05656"/>
            <a:ext cx="182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105656"/>
            <a:ext cx="61264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0">
                <a:solidFill>
                  <a:srgbClr val="A9B5CC"/>
                </a:solidFill>
                <a:latin typeface="Aptos"/>
              </a:defRPr>
            </a:pPr>
            <a:r>
              <a:t>Hiring trend = count of hire_date by year across all records.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727448"/>
            <a:ext cx="182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727448"/>
            <a:ext cx="61264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0">
                <a:solidFill>
                  <a:srgbClr val="A9B5CC"/>
                </a:solidFill>
                <a:latin typeface="Aptos"/>
              </a:defRPr>
            </a:pPr>
            <a:r>
              <a:t>State / Department / Race charts = active employees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03 •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Executive Workforce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A9B5CC"/>
                </a:solidFill>
                <a:latin typeface="Aptos"/>
              </a:defRPr>
            </a:pPr>
            <a:r>
              <a:t>HR Analytics • Data-driven workforce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651760" cy="182880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3152" cy="1828800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2240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A9B5CC"/>
                </a:solidFill>
                <a:latin typeface="Aptos"/>
              </a:defRPr>
            </a:pPr>
            <a:r>
              <a:t>ACTIVE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22402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18,285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07792"/>
            <a:ext cx="22402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9B5CC"/>
                </a:solidFill>
                <a:latin typeface="Aptos"/>
              </a:defRPr>
            </a:pPr>
            <a:r>
              <a:t>82.3% of all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554480"/>
            <a:ext cx="2651760" cy="182880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554480"/>
            <a:ext cx="73152" cy="182880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810512"/>
            <a:ext cx="2240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A9B5CC"/>
                </a:solidFill>
                <a:latin typeface="Aptos"/>
              </a:defRPr>
            </a:pPr>
            <a:r>
              <a:t>REMOTE WORKFORCE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40280"/>
            <a:ext cx="22402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25.0%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07792"/>
            <a:ext cx="22402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9B5CC"/>
                </a:solidFill>
                <a:latin typeface="Aptos"/>
              </a:defRPr>
            </a:pPr>
            <a:r>
              <a:t>4,575 employees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554480"/>
            <a:ext cx="2651760" cy="182880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554480"/>
            <a:ext cx="73152" cy="182880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1810512"/>
            <a:ext cx="2240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A9B5CC"/>
                </a:solidFill>
                <a:latin typeface="Aptos"/>
              </a:defRPr>
            </a:pPr>
            <a:r>
              <a:t>HEADQUARTERS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240280"/>
            <a:ext cx="22402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75.0%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907792"/>
            <a:ext cx="22402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9B5CC"/>
                </a:solidFill>
                <a:latin typeface="Aptos"/>
              </a:defRPr>
            </a:pPr>
            <a:r>
              <a:t>13,710 employees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1554480"/>
            <a:ext cx="2651760" cy="182880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55480" y="1554480"/>
            <a:ext cx="73152" cy="182880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810512"/>
            <a:ext cx="2240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A9B5CC"/>
                </a:solidFill>
                <a:latin typeface="Aptos"/>
              </a:defRPr>
            </a:pPr>
            <a:r>
              <a:t>AVERAGE 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240280"/>
            <a:ext cx="22402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38.5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907792"/>
            <a:ext cx="22402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A9B5CC"/>
                </a:solidFill>
                <a:latin typeface="Aptos"/>
              </a:defRPr>
            </a:pPr>
            <a:r>
              <a:t>Years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794760"/>
            <a:ext cx="10927080" cy="1874519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87368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Immediate takeaways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26280"/>
            <a:ext cx="9966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0">
                <a:solidFill>
                  <a:srgbClr val="A9B5CC"/>
                </a:solidFill>
                <a:latin typeface="Aptos"/>
              </a:defRPr>
            </a:pPr>
            <a:r>
              <a:t>• Workforce is predominantly office-based, with 1 in 4 employees remote.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10328"/>
            <a:ext cx="9966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0">
                <a:solidFill>
                  <a:srgbClr val="A9B5CC"/>
                </a:solidFill>
                <a:latin typeface="Aptos"/>
              </a:defRPr>
            </a:pPr>
            <a:r>
              <a:t>• Average employee age is about 38.5 years, indicating a mixed-experience workforce.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94376"/>
            <a:ext cx="9966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0">
                <a:solidFill>
                  <a:srgbClr val="A9B5CC"/>
                </a:solidFill>
                <a:latin typeface="Aptos"/>
              </a:defRPr>
            </a:pPr>
            <a:r>
              <a:t>• Active employee population is concentrated in a small number of states and departments.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04 • HIRING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Hiring Trend by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A9B5CC"/>
                </a:solidFill>
                <a:latin typeface="Aptos"/>
              </a:defRPr>
            </a:pPr>
            <a:r>
              <a:t>HR Analytics • Data-driven workforce insights</a:t>
            </a:r>
          </a:p>
        </p:txBody>
      </p:sp>
      <p:pic>
        <p:nvPicPr>
          <p:cNvPr id="6" name="Picture 5" descr="hiring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789920" cy="4800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5138928"/>
            <a:ext cx="2514600" cy="658368"/>
          </a:xfrm>
          <a:prstGeom prst="roundRect">
            <a:avLst/>
          </a:prstGeom>
          <a:solidFill>
            <a:srgbClr val="0B132B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5285232"/>
            <a:ext cx="2148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Aptos"/>
              </a:defRPr>
            </a:pPr>
            <a:r>
              <a:t>Peak: 1,147 (2018)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05 •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Gender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A9B5CC"/>
                </a:solidFill>
                <a:latin typeface="Aptos"/>
              </a:defRPr>
            </a:pPr>
            <a:r>
              <a:t>HR Analytics • Data-driven workforce insights</a:t>
            </a:r>
          </a:p>
        </p:txBody>
      </p:sp>
      <p:pic>
        <p:nvPicPr>
          <p:cNvPr id="6" name="Picture 5" descr="gender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53312"/>
            <a:ext cx="5577840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508760"/>
            <a:ext cx="4754880" cy="361188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3200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What the chart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423160"/>
            <a:ext cx="21031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A9B5CC"/>
                </a:solidFill>
                <a:latin typeface="Aptos"/>
              </a:defRPr>
            </a:pPr>
            <a:r>
              <a:t>Male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423160"/>
            <a:ext cx="20116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F8FAFC"/>
                </a:solidFill>
                <a:latin typeface="Aptos"/>
              </a:defRPr>
            </a:pPr>
            <a:r>
              <a:t>9,328  •  51.0%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081528"/>
            <a:ext cx="21031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A9B5CC"/>
                </a:solidFill>
                <a:latin typeface="Aptos"/>
              </a:defRPr>
            </a:pPr>
            <a:r>
              <a:t>Female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081528"/>
            <a:ext cx="20116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F8FAFC"/>
                </a:solidFill>
                <a:latin typeface="Aptos"/>
              </a:defRPr>
            </a:pPr>
            <a:r>
              <a:t>8,455  •  46.2%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739896"/>
            <a:ext cx="21031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A9B5CC"/>
                </a:solidFill>
                <a:latin typeface="Aptos"/>
              </a:defRPr>
            </a:pPr>
            <a:r>
              <a:t>Non-Conforming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39896"/>
            <a:ext cx="20116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F8FAFC"/>
                </a:solidFill>
                <a:latin typeface="Aptos"/>
              </a:defRPr>
            </a:pPr>
            <a:r>
              <a:t>502  •  2.7%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526280"/>
            <a:ext cx="3977639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The distribution is relatively balanced across male and female employees, with a smaller non-conforming segment.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06 •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Employees by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A9B5CC"/>
                </a:solidFill>
                <a:latin typeface="Aptos"/>
              </a:defRPr>
            </a:pPr>
            <a:r>
              <a:t>HR Analytics • Data-driven workforce insights</a:t>
            </a:r>
          </a:p>
        </p:txBody>
      </p:sp>
      <p:pic>
        <p:nvPicPr>
          <p:cNvPr id="6" name="Picture 5" descr="sta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583680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600200"/>
            <a:ext cx="3794760" cy="356616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Geographic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514600"/>
            <a:ext cx="3063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Aptos"/>
              </a:defRPr>
            </a:pPr>
            <a:r>
              <a:t>Ohio dominates the workforce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246120"/>
            <a:ext cx="2926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14,788 active employees</a:t>
            </a:r>
            <a:br/>
            <a:r>
              <a:t>(80.9% of active workforce)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160520"/>
            <a:ext cx="2971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The workforce is heavily concentrated in Ohio, while Pennsylvania, Illinois, Indiana, Michigan, Kentucky and Wisconsin form the next tier.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07 •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Employees by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A9B5CC"/>
                </a:solidFill>
                <a:latin typeface="Aptos"/>
              </a:defRPr>
            </a:pPr>
            <a:r>
              <a:t>HR Analytics • Data-driven workforce insights</a:t>
            </a:r>
          </a:p>
        </p:txBody>
      </p:sp>
      <p:pic>
        <p:nvPicPr>
          <p:cNvPr id="6" name="Picture 5" descr="dep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583680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600200"/>
            <a:ext cx="3794760" cy="356616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Department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514600"/>
            <a:ext cx="30632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ptos"/>
              </a:defRPr>
            </a:pPr>
            <a:r>
              <a:t>Engineering is the largest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246120"/>
            <a:ext cx="2926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5,501 active employees</a:t>
            </a:r>
            <a:br/>
            <a:r>
              <a:t>(30.1% of active workforce)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160520"/>
            <a:ext cx="2971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Accounting is the second-largest group, followed by HR, Sales, Training and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08 • 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Employees by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A9B5CC"/>
                </a:solidFill>
                <a:latin typeface="Aptos"/>
              </a:defRPr>
            </a:pPr>
            <a:r>
              <a:t>HR Analytics • Data-driven workforce insights</a:t>
            </a:r>
          </a:p>
        </p:txBody>
      </p:sp>
      <p:pic>
        <p:nvPicPr>
          <p:cNvPr id="6" name="Picture 5" descr="rac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6294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554480"/>
            <a:ext cx="3794760" cy="3749039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874519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Diversity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514600"/>
            <a:ext cx="310896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Aptos"/>
              </a:defRPr>
            </a:pPr>
            <a:r>
              <a:t>White is the largest single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246120"/>
            <a:ext cx="283464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5,214 employees</a:t>
            </a:r>
            <a:br/>
            <a:r>
              <a:t>(28.5%)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206240"/>
            <a:ext cx="29260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The remaining workforce is distributed across six additional race categories, providing a broad mix of backgrounds.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09 •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Cross-Feature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A9B5CC"/>
                </a:solidFill>
                <a:latin typeface="Aptos"/>
              </a:defRPr>
            </a:pPr>
            <a:r>
              <a:t>HR Analytics • Data-driven workforce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27080" cy="91440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828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Aptos"/>
              </a:defRPr>
            </a:pPr>
            <a:r>
              <a:t>Remote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17904"/>
            <a:ext cx="3703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25.0% of active employees are remote.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17904"/>
            <a:ext cx="48920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Opportunity to review remote-work productivity, retention and engagement against HQ staff.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42032"/>
            <a:ext cx="10927080" cy="91440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706624"/>
            <a:ext cx="1828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Aptos"/>
              </a:defRPr>
            </a:pPr>
            <a:r>
              <a:t>Workforce concentration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88336"/>
            <a:ext cx="3703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80.9% are located in Ohio.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688336"/>
            <a:ext cx="48920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Location concentration may create operational resilience and recruiting dependency.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12464"/>
            <a:ext cx="10927080" cy="91440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877056"/>
            <a:ext cx="1828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Aptos"/>
              </a:defRPr>
            </a:pPr>
            <a:r>
              <a:t>Functional mix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858768"/>
            <a:ext cx="3703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Engineering represents 30.1% of active staff.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858768"/>
            <a:ext cx="48920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Hiring and retention strategies should prioritize technical talent and engineering capacity.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82896"/>
            <a:ext cx="10927080" cy="91440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047488"/>
            <a:ext cx="1828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Aptos"/>
              </a:defRPr>
            </a:pPr>
            <a:r>
              <a:t>Hiring stability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029200"/>
            <a:ext cx="3703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Annual hires stay around 1,000–1,150 for most years.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029200"/>
            <a:ext cx="48920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Recruitment volume is relatively stable, suggesting a consistent talent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10 •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Recommendations to the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A9B5CC"/>
                </a:solidFill>
                <a:latin typeface="Aptos"/>
              </a:defRPr>
            </a:pPr>
            <a:r>
              <a:t>HR Analytics • Data-driven workforce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927080" cy="713232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502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435607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Remote-work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444752"/>
            <a:ext cx="68122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Track productivity, engagement and turnover separately for Remote vs Headquarters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10927080" cy="713232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04872"/>
            <a:ext cx="502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350008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Engineering talent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359152"/>
            <a:ext cx="68122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Prioritize engineering recruitment, internal mobility and retention programs.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10927080" cy="713232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319272"/>
            <a:ext cx="502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64408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Geographic diversification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273552"/>
            <a:ext cx="68122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Evaluate hiring expansion beyond Ohio to reduce concentration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10927080" cy="713232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233672"/>
            <a:ext cx="502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178808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Diversity &amp; inclusion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187952"/>
            <a:ext cx="68122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Monitor representation trends across gender and race groups at team and leadership levels.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83480"/>
            <a:ext cx="10927080" cy="713232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148072"/>
            <a:ext cx="502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093208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Recruitment 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5102352"/>
            <a:ext cx="68122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A9B5CC"/>
                </a:solidFill>
                <a:latin typeface="Aptos"/>
              </a:defRPr>
            </a:pPr>
            <a:r>
              <a:t>Use historical hiring patterns to forecast annual recruitment needs and staffing budgets.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11 •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A9B5CC"/>
                </a:solidFill>
                <a:latin typeface="Aptos"/>
              </a:defRPr>
            </a:pPr>
            <a:r>
              <a:t>HR Analytics • Data-driven workforce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4297680"/>
          </a:xfrm>
          <a:prstGeom prst="roundRect">
            <a:avLst/>
          </a:prstGeom>
          <a:solidFill>
            <a:srgbClr val="111C36"/>
          </a:solidFill>
          <a:ln>
            <a:solidFill>
              <a:srgbClr val="2B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9784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900" b="1">
                <a:solidFill>
                  <a:srgbClr val="F8FAFC"/>
                </a:solidFill>
                <a:latin typeface="Aptos"/>
              </a:defRPr>
            </a:pPr>
            <a:r>
              <a:t>The HR dataset shows a large, predominantly headquarters-based workforce with strong concentration in Ohio and Engineering.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743200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00" b="0">
                <a:solidFill>
                  <a:srgbClr val="A9B5CC"/>
                </a:solidFill>
                <a:latin typeface="Aptos"/>
              </a:defRPr>
            </a:pPr>
            <a:r>
              <a:t>18,285 active employees analyzed for core workforce KPIs.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246120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00" b="0">
                <a:solidFill>
                  <a:srgbClr val="A9B5CC"/>
                </a:solidFill>
                <a:latin typeface="Aptos"/>
              </a:defRPr>
            </a:pPr>
            <a:r>
              <a:t>25.0% Remote / 75.0% Headquarters.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749039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00" b="0">
                <a:solidFill>
                  <a:srgbClr val="A9B5CC"/>
                </a:solidFill>
                <a:latin typeface="Aptos"/>
              </a:defRPr>
            </a:pPr>
            <a:r>
              <a:t>38.5 years average 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251960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00" b="0">
                <a:solidFill>
                  <a:srgbClr val="A9B5CC"/>
                </a:solidFill>
                <a:latin typeface="Aptos"/>
              </a:defRPr>
            </a:pPr>
            <a:r>
              <a:t>Engineering is the largest department; Ohio is the largest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754880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00" b="0">
                <a:solidFill>
                  <a:srgbClr val="A9B5CC"/>
                </a:solidFill>
                <a:latin typeface="Aptos"/>
              </a:defRPr>
            </a:pPr>
            <a:r>
              <a:t>Annual hiring volume is relatively stable across the observed years.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5897880"/>
            <a:ext cx="2743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2DD4B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